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Urbanis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8462" y="4458444"/>
            <a:ext cx="6315075" cy="133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Jazz_logo.svg.png"/>
          <p:cNvPicPr preferRelativeResize="0"/>
          <p:nvPr/>
        </p:nvPicPr>
        <p:blipFill>
          <a:blip r:embed="rId5">
            <a:alphaModFix amt="37000"/>
          </a:blip>
          <a:stretch>
            <a:fillRect/>
          </a:stretch>
        </p:blipFill>
        <p:spPr>
          <a:xfrm>
            <a:off x="2728951" y="75754"/>
            <a:ext cx="7586700" cy="63728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445418" y="1067841"/>
            <a:ext cx="9301162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SOCIAL MEDIA ANALYTICS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IN TALENT ACQUISITION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666875" y="3018383"/>
            <a:ext cx="8858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A Case Study of Jazz Pakistan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2938462" y="4703833"/>
            <a:ext cx="7586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Prepared By</a:t>
            </a:r>
            <a:r>
              <a:rPr lang="en-US" sz="150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M. Sulaiman (SP25-BDA-004) &amp; Shafqat Rehman (SP25-BDA-010)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2728951" y="6160843"/>
            <a:ext cx="7586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COMSATS UNIVERSITY ISLAMABAD, ABBOTTABAD CAMPUS</a:t>
            </a:r>
            <a:endParaRPr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E7971-F2A0-D4A2-18DB-9B8E2687F332}"/>
              </a:ext>
            </a:extLst>
          </p:cNvPr>
          <p:cNvSpPr txBox="1"/>
          <p:nvPr/>
        </p:nvSpPr>
        <p:spPr>
          <a:xfrm>
            <a:off x="3273296" y="5420677"/>
            <a:ext cx="7257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Instructor: Dr Zohra Saleem 		Date: 21/11/2025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63005"/>
            <a:ext cx="5286375" cy="3842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63005"/>
            <a:ext cx="5286375" cy="384244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The Recruitment Revolution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912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Impact: 20% Cost Reduction | 11% Faster Hiring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2044005"/>
            <a:ext cx="47005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 Traditional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2044005"/>
            <a:ext cx="47005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Modern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343025" y="25163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381125" y="25163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Reactive filling of open positions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343025" y="28211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381125" y="28211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Reliance on newspaper ads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343025" y="31259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381125" y="31259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Intuition-based decision making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43025" y="3430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81125" y="34307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Limited reach &amp; high cost</a:t>
            </a:r>
            <a:endParaRPr dirty="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0" y="206305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105650" y="25163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43750" y="25163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Proactive engagement (Passive candidates)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105650" y="28211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143750" y="28211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Social Media &amp; Digital Platforms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105650" y="31259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43750" y="31259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Data-Driven analytics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105650" y="34307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143750" y="3430785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91%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employers use social media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571500" y="762000"/>
            <a:ext cx="5200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Jazz Pakistan Overview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1643955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Pakistan's #1 Digital Operator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229731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Founded in 1994, Jazz has evolved from a mobile operator to a digital powerhouse.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3478410"/>
            <a:ext cx="178824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13,000+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393561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Employees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4430910"/>
            <a:ext cx="24371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72 Million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488811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Customers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5383410"/>
            <a:ext cx="24371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$1.24 Billion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584061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Annual Revenue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Research Objectives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912649" y="3490912"/>
            <a:ext cx="81010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HOW?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57250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How does Jazz utilize social media channels like LinkedIn and Facebook for recruitment?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620940" y="3490912"/>
            <a:ext cx="95011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WHAT?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635549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What technology systems (ATS, HCM) does Jazz use for hiring and tracking?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189213" y="3490912"/>
            <a:ext cx="137017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BENEFITS?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413849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What tangible benefits and competitive advantages does Jazz achieve?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0" y="27860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7124" y="2786062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44997"/>
            <a:ext cx="5286375" cy="465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44997"/>
            <a:ext cx="5286375" cy="465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125" y="3351758"/>
            <a:ext cx="4476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53491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Theoretical Framework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244947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00125" y="2025997"/>
            <a:ext cx="4700587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Technology Acceptance Model (TAM)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000125" y="2856458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Why do employees adopt new tools?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762750" y="2025997"/>
            <a:ext cx="47005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Resource-Based View (RBV)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762750" y="2536477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How to sustain competitive advantage?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90625" y="3732758"/>
            <a:ext cx="4095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Perceived Usefulness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+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190625" y="4532858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Perceived Ease of Use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190625" y="5237708"/>
            <a:ext cx="409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User Adoption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62750" y="3127027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V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aluable (Improves Efficiency)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6762750" y="3527077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762750" y="3631852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R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are (Advanced Analytics)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6762750" y="4031902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762750" y="4136677"/>
            <a:ext cx="4476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nimitable (Integrated Process)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6762750" y="4536727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762750" y="4641502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on-substitutable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762750" y="3527077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762750" y="4031902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762750" y="4536727"/>
            <a:ext cx="44767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LinkedIn Strategy: Professional Reach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9752"/>
            <a:ext cx="26955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904875" y="232930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900M+ Users: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Primary channel for professional, technical, and senior roles.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319013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Passive Candidates: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Reaches qualified talent not actively looking for jobs.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04875" y="405095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Employer Branding: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Thought leadership articles and company achievements.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904875" y="491177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Employee Spotlights: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Humanizing the brand through employee success stories.</a:t>
            </a:r>
            <a:endParaRPr/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93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013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095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1177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9A6D33-112B-97A2-5823-4301738C30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69752"/>
            <a:ext cx="5799669" cy="32623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Facebook Strategy: Cultural Alignment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9752"/>
            <a:ext cx="25908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6667500" y="2329308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Broader Demographic: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Targets fresh graduates, interns, and early-career professionals.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67500" y="3190130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Workplace Culture: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Showcases "Life at Jazz," events, and diversity initiatives.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667500" y="405095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75% Statistic: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Job seekers research company values/culture on social media before applying.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67500" y="491177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Cost-Effective: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High volume sourcing for entry-level positions.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29308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9013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05095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91177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3BDA98B3-B320-FB34-132D-2B223C3E7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08" y="2026917"/>
            <a:ext cx="5892383" cy="3667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4587"/>
            <a:ext cx="2547937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05187" y="2414587"/>
            <a:ext cx="2547937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414587"/>
            <a:ext cx="2547937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2562" y="2414587"/>
            <a:ext cx="2547937" cy="312033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Workable: Core ATS Engine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925353" y="3490912"/>
            <a:ext cx="184023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Multi-Channel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7250" y="4144267"/>
            <a:ext cx="19764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One-click posting to LinkedIn, Facebook, and job boards.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3669030" y="3490912"/>
            <a:ext cx="202025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Resume Parsing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690937" y="4144267"/>
            <a:ext cx="19764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Automated data extraction for standardized profiles.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012781" y="3490912"/>
            <a:ext cx="100012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Pipeline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24625" y="4144267"/>
            <a:ext cx="19764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Visual tracking of candidates from application to offer.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761458" y="3490912"/>
            <a:ext cx="117014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Analytics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358312" y="4144267"/>
            <a:ext cx="19764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Real-time dashboards for time-to-hire and source tracking.</a:t>
            </a:r>
            <a:endParaRPr/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45443" y="27860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7706" y="278606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84243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/>
        </p:nvSpPr>
        <p:spPr>
          <a:xfrm>
            <a:off x="571500" y="1099244"/>
            <a:ext cx="52006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SAP SuccessFactors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2171700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Enterprise HR Management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28250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Comprehensive HCM system managing the lifecycle of 13,000+ employees.</a:t>
            </a:r>
            <a:endParaRPr/>
          </a:p>
        </p:txBody>
      </p:sp>
      <p:pic>
        <p:nvPicPr>
          <p:cNvPr id="234" name="Google Shape;23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8F3AC6C4-AFDE-C21F-0330-D4B66422C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0"/>
            <a:ext cx="9618595" cy="6858000"/>
          </a:xfrm>
          <a:prstGeom prst="rect">
            <a:avLst/>
          </a:prstGeom>
        </p:spPr>
      </p:pic>
      <p:sp>
        <p:nvSpPr>
          <p:cNvPr id="235" name="Google Shape;235;p21"/>
          <p:cNvSpPr txBox="1"/>
          <p:nvPr/>
        </p:nvSpPr>
        <p:spPr>
          <a:xfrm>
            <a:off x="571500" y="381565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Payroll &amp; Benefits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426333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Performance Management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471100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Learning &amp; Development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515868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Seamless integration with Workable</a:t>
            </a:r>
            <a:endParaRPr/>
          </a:p>
        </p:txBody>
      </p:sp>
      <p:pic>
        <p:nvPicPr>
          <p:cNvPr id="239" name="Google Shape;23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7280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2048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6815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21583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63005"/>
            <a:ext cx="11049000" cy="462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Data-Driven Source Effectiveness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571500" y="23193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Comparison of Applicant Conversion Rates (Application-to-Interview/Hire)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71500" y="5100637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Insight: **Facebook** delivers the highest conversion rate. Data allows Jazz to allocate budget to high-performing channels. (Raw applicant counts were not specified in the assignment source.)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331815"/>
            <a:ext cx="5286375" cy="805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51920"/>
            <a:ext cx="5286375" cy="80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System Integration Ecosystem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571500" y="2491829"/>
            <a:ext cx="5550693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Seamless Data Flow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00100" y="3512791"/>
            <a:ext cx="232886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1. Recruitment (Workable)</a:t>
            </a:r>
            <a:endParaRPr dirty="0"/>
          </a:p>
        </p:txBody>
      </p:sp>
      <p:sp>
        <p:nvSpPr>
          <p:cNvPr id="263" name="Google Shape;263;p23"/>
          <p:cNvSpPr txBox="1"/>
          <p:nvPr/>
        </p:nvSpPr>
        <p:spPr>
          <a:xfrm>
            <a:off x="800100" y="3703290"/>
            <a:ext cx="48672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Sourcing, Interviewing, Offer Management</a:t>
            </a:r>
            <a:endParaRPr dirty="0"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8962" y="429949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800100" y="4832896"/>
            <a:ext cx="29459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2. Lifecycle (SAP SuccessFactors)</a:t>
            </a:r>
            <a:endParaRPr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800100" y="5023395"/>
            <a:ext cx="48672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Onboarding, Payroll, Performance</a:t>
            </a:r>
            <a:endParaRPr/>
          </a:p>
        </p:txBody>
      </p:sp>
      <p:pic>
        <p:nvPicPr>
          <p:cNvPr id="5" name="Picture 4" descr="A person typing on a computer&#10;&#10;AI-generated content may be incorrect.">
            <a:extLst>
              <a:ext uri="{FF2B5EF4-FFF2-40B4-BE49-F238E27FC236}">
                <a16:creationId xmlns:a16="http://schemas.microsoft.com/office/drawing/2014/main" id="{8A650A33-A4FC-79E4-DF49-AA1FC21B0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475" y="2212784"/>
            <a:ext cx="5724525" cy="3647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14587"/>
            <a:ext cx="3492549" cy="312033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Benefits &amp; Key Results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1702623" y="3490912"/>
            <a:ext cx="123015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Efficiency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857250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Faster time-to-fill and reduced cost-per-hire through automation and targeted spending.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630941" y="3490912"/>
            <a:ext cx="93011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Quality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4635549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Better candidate matches, reduced bias via structured scoring, and data-driven sourcing.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9284225" y="3490912"/>
            <a:ext cx="118014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30613"/>
                </a:solidFill>
                <a:latin typeface="Urbanist"/>
                <a:ea typeface="Urbanist"/>
                <a:cs typeface="Urbanist"/>
                <a:sym typeface="Urbanist"/>
              </a:rPr>
              <a:t>Strategic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413849" y="4144267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Strengthened employer brand, proactive workforce planning, and competitive advantage.</a:t>
            </a:r>
            <a:endParaRPr/>
          </a:p>
        </p:txBody>
      </p:sp>
      <p:pic>
        <p:nvPicPr>
          <p:cNvPr id="282" name="Google Shape;28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7675" y="27860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0" y="27860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699" y="2786062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Key Findings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571500" y="1262955"/>
            <a:ext cx="11049000" cy="1905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904875" y="2592139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Integrated Approach Wins: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The ecosystem of Workable + Social Media + SAP creates a superior hiring engine.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904875" y="378812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Social Media is Strategic: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It's not just for posting jobs; it's for branding and reaching passive talent.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904875" y="464894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Data Transforms Recruitment: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Moves HR from intuition-based admin to evidence-based strategy.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6667500" y="2713880"/>
            <a:ext cx="5204952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Technology Adoption:</a:t>
            </a:r>
            <a:r>
              <a:rPr lang="en-US" sz="165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Systems were adopted because they were both Useful and Easy to Use (TAM).</a:t>
            </a:r>
            <a:endParaRPr dirty="0"/>
          </a:p>
        </p:txBody>
      </p:sp>
      <p:sp>
        <p:nvSpPr>
          <p:cNvPr id="295" name="Google Shape;295;p25"/>
          <p:cNvSpPr txBox="1"/>
          <p:nvPr/>
        </p:nvSpPr>
        <p:spPr>
          <a:xfrm>
            <a:off x="6667500" y="357470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Competitive Advantage:</a:t>
            </a:r>
            <a:r>
              <a:rPr lang="en-US" sz="165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Jazz's analytics capability is Valuable, Rare, and Inimitable (RBV).</a:t>
            </a:r>
            <a:endParaRPr/>
          </a:p>
        </p:txBody>
      </p:sp>
      <p:pic>
        <p:nvPicPr>
          <p:cNvPr id="296" name="Google Shape;29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9213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7881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489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71388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574702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5450" y="724048"/>
            <a:ext cx="8801100" cy="5409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logo with a red circle and a yellow ball&#10;&#10;AI-generated content may be incorrect.">
            <a:extLst>
              <a:ext uri="{FF2B5EF4-FFF2-40B4-BE49-F238E27FC236}">
                <a16:creationId xmlns:a16="http://schemas.microsoft.com/office/drawing/2014/main" id="{BE97A6D9-01B7-7935-B2FF-F94CA8F87CC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2013857" y="228600"/>
            <a:ext cx="7892143" cy="6629400"/>
          </a:xfrm>
          <a:prstGeom prst="rect">
            <a:avLst/>
          </a:prstGeom>
        </p:spPr>
      </p:pic>
      <p:sp>
        <p:nvSpPr>
          <p:cNvPr id="307" name="Google Shape;307;p26"/>
          <p:cNvSpPr txBox="1"/>
          <p:nvPr/>
        </p:nvSpPr>
        <p:spPr>
          <a:xfrm>
            <a:off x="2095500" y="1314598"/>
            <a:ext cx="8001000" cy="73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2286000" y="2312789"/>
            <a:ext cx="7620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"Social Media + Analytics = Future of HR"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2286000" y="3120479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DDDDD"/>
                </a:solidFill>
                <a:latin typeface="Urbanist"/>
                <a:ea typeface="Urbanist"/>
                <a:cs typeface="Urbanist"/>
                <a:sym typeface="Urbanist"/>
              </a:rPr>
              <a:t>Jazz demonstrates that strategic investment in HR technology is not a luxury, but a business necessity for competitive advantage.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2095500" y="4171801"/>
            <a:ext cx="8001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2286000" y="4948981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Widescreen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SP25-BDA-004(Muhammad Sulaiman)</cp:lastModifiedBy>
  <cp:revision>1</cp:revision>
  <dcterms:modified xsi:type="dcterms:W3CDTF">2025-11-20T19:05:43Z</dcterms:modified>
</cp:coreProperties>
</file>